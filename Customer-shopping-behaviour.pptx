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Medium"/>
      <p:regular r:id="rId201315"/>
    </p:embeddedFont>
    <p:embeddedFont>
      <p:font typeface="Public Sans Bold"/>
      <p:regular r:id="rId201316"/>
    </p:embeddedFont>
    <p:embeddedFont>
      <p:font typeface="Sora SemiBold"/>
      <p:regular r:id="rId201317"/>
    </p:embeddedFont>
    <p:embeddedFont>
      <p:font typeface="Sora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presentation: an empirical look at 3,900 customer transactions evaluating revenue drivers, customer segmentation, discount elasticity, and channel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broad coverage of the dataset: 3,900 purchases representing nationwide distribution across all seasons. Emphasize that the average order holds steady at $59.76.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three-stage methodology: standardizing raw transactions with median category imputation, extracting insights with SQL queries, and deploying the Power BI dashboard for real-time slicing.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Male revenue accounts for more than two-thirds of the current total. Rather than accepting this as an immutable constraint, use it to craft dedicated acquisition and tailored merchandising for female demographics.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Eighty percent of buyers already demonstrate high loyalty with over 3,100 members. The immediate commercial priority is transitioning the 701 returning customers into the top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2,500 customers with five or more purchases do not subscribe. Basket size is virtually identical ($59.49 vs $59.87), proving subscribers do not require steep discounts to buy.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Nearly half of all sales in top apparel and footwear categories are discounted. We need to distinguish true promotion sensitivity from self-inflicted margin loss where buyers anticipate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high-rated products as campaign anchors, then cross-sell into category leaders.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 fulfillment yields a modest $2.02 lift in basket size. While positive, the incremental revenue must be weighed against carrier surcharges before offering expedited shipping as a conversion promotion.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914400"/>
            <a:ext cx="249667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96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TRANSACTION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719023" y="914400"/>
            <a:ext cx="195942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96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PORTFOLIO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5156" y="1475680"/>
            <a:ext cx="8019849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84" kern="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Customer shopping behaviour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65156" y="3113980"/>
            <a:ext cx="8629434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transactional study of 3,900 retail purchases across 50 markets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5156" y="3964880"/>
            <a:ext cx="86294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12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Dataset analysis covering categories, loyalty segments, discount sensitivity and fulfillment channels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84078" y="914400"/>
            <a:ext cx="12700" cy="205680"/>
          </a:xfrm>
          <a:prstGeom prst="rect">
            <a:avLst/>
          </a:prstGeom>
          <a:solidFill>
            <a:srgbClr val="A7B3B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3,900 purchases reveal a loyal base with room to convert more buyers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964333"/>
            <a:ext cx="3091083" cy="2237680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167533"/>
            <a:ext cx="28624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Dataset scope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8179" y="2575520"/>
            <a:ext cx="2633894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3,900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38179" y="3197820"/>
            <a:ext cx="2633894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Purchases across 25 products, 4 categories, 50 locations and 4 seasons.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827664" y="1964333"/>
            <a:ext cx="3091182" cy="2237680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8" name="Text 6"/>
          <p:cNvSpPr/>
          <p:nvPr/>
        </p:nvSpPr>
        <p:spPr>
          <a:xfrm>
            <a:off x="4056259" y="2167533"/>
            <a:ext cx="28625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purchase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56259" y="2575520"/>
            <a:ext cx="2633993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spc="-64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$59.76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609585" y="4405213"/>
            <a:ext cx="6309262" cy="1426766"/>
          </a:xfrm>
          <a:prstGeom prst="roundRect">
            <a:avLst>
              <a:gd name="adj" fmla="val 2270"/>
            </a:avLst>
          </a:prstGeom>
          <a:solidFill>
            <a:srgbClr val="E7EAF0"/>
          </a:solidFill>
          <a:ln/>
        </p:spPr>
      </p:sp>
      <p:sp>
        <p:nvSpPr>
          <p:cNvPr id="11" name="Text 9"/>
          <p:cNvSpPr/>
          <p:nvPr/>
        </p:nvSpPr>
        <p:spPr>
          <a:xfrm>
            <a:off x="863578" y="4633813"/>
            <a:ext cx="60552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CORE OPPORTUNITY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3578" y="4917579"/>
            <a:ext cx="58012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spc="-20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Turn repeat behaviour into subscriptions and protect margin on discount-led demand.</a:t>
            </a:r>
            <a:endParaRPr lang="en-US" sz="2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5936" y="1735733"/>
            <a:ext cx="4206174" cy="451266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02132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analysis combines clean data, SQL questions and a decision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2563912"/>
            <a:ext cx="3454314" cy="2640509"/>
          </a:xfrm>
          <a:prstGeom prst="roundRect">
            <a:avLst>
              <a:gd name="adj" fmla="val 1226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978" y="2817912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8978" y="3376712"/>
            <a:ext cx="289552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Clean and standardize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88978" y="3840857"/>
            <a:ext cx="289552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transaction data; impute 37 missing review ratings by product-category median.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368691" y="2563912"/>
            <a:ext cx="3454314" cy="2640509"/>
          </a:xfrm>
          <a:prstGeom prst="roundRect">
            <a:avLst>
              <a:gd name="adj" fmla="val 1226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084" y="2817912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48084" y="3376712"/>
            <a:ext cx="289552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SQL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648084" y="3840857"/>
            <a:ext cx="2895528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 compare revenue, ratings, shipping, subscriptions, discounts, segments and age groups.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127797" y="2563912"/>
            <a:ext cx="3454314" cy="2640509"/>
          </a:xfrm>
          <a:prstGeom prst="roundRect">
            <a:avLst>
              <a:gd name="adj" fmla="val 1226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190" y="2817912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07190" y="3376712"/>
            <a:ext cx="289552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Bring the findings into a Power BI dashboard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407190" y="4149427"/>
            <a:ext cx="289552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 interactive slicing by subscription, gender, category and shipping type.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398263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Revenue is concentrated in male customers, but the gap is a targeting signal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916212"/>
            <a:ext cx="6659694" cy="3453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531346"/>
            <a:ext cx="6659694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Male customers generate $157,890 vs. $75,191 from female buyers across identical product categories.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26368" y="2057102"/>
            <a:ext cx="1775475" cy="2916436"/>
          </a:xfrm>
          <a:prstGeom prst="roundRect">
            <a:avLst>
              <a:gd name="adj" fmla="val 1824"/>
            </a:avLst>
          </a:prstGeom>
          <a:solidFill>
            <a:srgbClr val="E7EAF0"/>
          </a:solidFill>
          <a:ln/>
        </p:spPr>
      </p:sp>
      <p:sp>
        <p:nvSpPr>
          <p:cNvPr id="6" name="Text 3"/>
          <p:cNvSpPr/>
          <p:nvPr/>
        </p:nvSpPr>
        <p:spPr>
          <a:xfrm>
            <a:off x="7954962" y="2260302"/>
            <a:ext cx="131828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Male revenue share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54962" y="2882602"/>
            <a:ext cx="131828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0" dirty="0">
                <a:solidFill>
                  <a:srgbClr val="0E7C8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67.7%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54962" y="4236343"/>
            <a:ext cx="131828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$157,890 total generated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806635" y="2057102"/>
            <a:ext cx="1775475" cy="2916436"/>
          </a:xfrm>
          <a:prstGeom prst="roundRect">
            <a:avLst>
              <a:gd name="adj" fmla="val 1824"/>
            </a:avLst>
          </a:prstGeom>
          <a:solidFill>
            <a:srgbClr val="E7EAF0"/>
          </a:solidFill>
          <a:ln/>
        </p:spPr>
      </p:sp>
      <p:sp>
        <p:nvSpPr>
          <p:cNvPr id="10" name="Text 7"/>
          <p:cNvSpPr/>
          <p:nvPr/>
        </p:nvSpPr>
        <p:spPr>
          <a:xfrm>
            <a:off x="10035229" y="2260302"/>
            <a:ext cx="131828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Female revenue share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35229" y="2882602"/>
            <a:ext cx="131828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32.3%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10035229" y="4236343"/>
            <a:ext cx="131828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$75,191 total generated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26368" y="5125938"/>
            <a:ext cx="3855743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 a gender-aware acquisition and merchandising plan without treating the current mix as a ceiling.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1397766" y="6451898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Loyalty is the biggest growth lever: 80% of customers are already loyal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916212"/>
            <a:ext cx="6659694" cy="3453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531346"/>
            <a:ext cx="6659694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Loyal buyers dominate the pool (3,116), with 701 returning and a narrow inflow of 83 new buyers.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26368" y="1923653"/>
            <a:ext cx="1775475" cy="3183434"/>
          </a:xfrm>
          <a:prstGeom prst="roundRect">
            <a:avLst>
              <a:gd name="adj" fmla="val 1824"/>
            </a:avLst>
          </a:prstGeom>
          <a:solidFill>
            <a:srgbClr val="E7EAF0"/>
          </a:solidFill>
          <a:ln/>
        </p:spPr>
      </p:sp>
      <p:sp>
        <p:nvSpPr>
          <p:cNvPr id="6" name="Text 3"/>
          <p:cNvSpPr/>
          <p:nvPr/>
        </p:nvSpPr>
        <p:spPr>
          <a:xfrm>
            <a:off x="7954962" y="2126853"/>
            <a:ext cx="131828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Loyal cohort share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54962" y="2749153"/>
            <a:ext cx="1318287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0" dirty="0">
                <a:solidFill>
                  <a:srgbClr val="0E7C8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79.9%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54962" y="4102894"/>
            <a:ext cx="1318287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3,116 accounts in regular rotation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806635" y="1923653"/>
            <a:ext cx="1775475" cy="3183434"/>
          </a:xfrm>
          <a:prstGeom prst="roundRect">
            <a:avLst>
              <a:gd name="adj" fmla="val 1824"/>
            </a:avLst>
          </a:prstGeom>
          <a:solidFill>
            <a:srgbClr val="E7EAF0"/>
          </a:solidFill>
          <a:ln/>
        </p:spPr>
      </p:sp>
      <p:sp>
        <p:nvSpPr>
          <p:cNvPr id="10" name="Text 7"/>
          <p:cNvSpPr/>
          <p:nvPr/>
        </p:nvSpPr>
        <p:spPr>
          <a:xfrm>
            <a:off x="10035229" y="2126853"/>
            <a:ext cx="131828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Conversion bridge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35229" y="2749153"/>
            <a:ext cx="131828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701 returning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035229" y="3727648"/>
            <a:ext cx="1318287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Prime candidates for loyalty enrollment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26368" y="5259487"/>
            <a:ext cx="3855743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Reward repeat buyers and create a clear bridge from returning to loyal status to maximize lifetime value.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Subscriptions are under-penetrated even among repeat buyers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23368"/>
            <a:ext cx="6659694" cy="3453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638502"/>
            <a:ext cx="6659694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2,518 frequent buyers (5+ orders) remain unsubscribed despite identical spend profiles.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726368" y="2141141"/>
            <a:ext cx="38557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Subscribers revenue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26368" y="2549128"/>
            <a:ext cx="385574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$62,645 </a:t>
            </a:r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(1,053 buyers)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26368" y="3013273"/>
            <a:ext cx="385574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basket: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$59.49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26368" y="3483471"/>
            <a:ext cx="38557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Non-subscribers revenue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26368" y="3891459"/>
            <a:ext cx="385574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$170,436 </a:t>
            </a:r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(2,847 buyers)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26368" y="4355604"/>
            <a:ext cx="385574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basket: </a:t>
            </a:r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$59.87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26368" y="4876602"/>
            <a:ext cx="3855743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Subscription penetration lags repeat transaction volume; with near-identical basket values, structured perks can unlock recurring revenue.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726368" y="3375521"/>
            <a:ext cx="3855743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3" name="Text 10"/>
          <p:cNvSpPr/>
          <p:nvPr/>
        </p:nvSpPr>
        <p:spPr>
          <a:xfrm>
            <a:off x="11399354" y="6451898"/>
            <a:ext cx="79234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Discounts drive demand for a specific product set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795760"/>
            <a:ext cx="6659694" cy="3453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410895"/>
            <a:ext cx="6659694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Hat 50.0%, Sneakers 49.7%, Coat 49.1%, Sweater 48.2%, Pants 47.4%.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26368" y="1861542"/>
            <a:ext cx="1775475" cy="3805833"/>
          </a:xfrm>
          <a:prstGeom prst="roundRect">
            <a:avLst>
              <a:gd name="adj" fmla="val 1824"/>
            </a:avLst>
          </a:prstGeom>
          <a:solidFill>
            <a:srgbClr val="E7EAF0"/>
          </a:solidFill>
          <a:ln/>
        </p:spPr>
      </p:sp>
      <p:sp>
        <p:nvSpPr>
          <p:cNvPr id="6" name="Text 3"/>
          <p:cNvSpPr/>
          <p:nvPr/>
        </p:nvSpPr>
        <p:spPr>
          <a:xfrm>
            <a:off x="7954962" y="2064742"/>
            <a:ext cx="131828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Commercial question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54962" y="2687042"/>
            <a:ext cx="1318287" cy="277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Which products need discount support, and which are training customers to wait?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806635" y="1861542"/>
            <a:ext cx="1775475" cy="3805833"/>
          </a:xfrm>
          <a:prstGeom prst="roundRect">
            <a:avLst>
              <a:gd name="adj" fmla="val 1824"/>
            </a:avLst>
          </a:prstGeom>
          <a:solidFill>
            <a:srgbClr val="E7EAF0"/>
          </a:solidFill>
          <a:ln/>
        </p:spPr>
      </p:sp>
      <p:sp>
        <p:nvSpPr>
          <p:cNvPr id="9" name="Text 6"/>
          <p:cNvSpPr/>
          <p:nvPr/>
        </p:nvSpPr>
        <p:spPr>
          <a:xfrm>
            <a:off x="10035229" y="2064742"/>
            <a:ext cx="15468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35229" y="2406055"/>
            <a:ext cx="1318287" cy="186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Test targeted offers and track margin, conversion and repeat purchase together.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404116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Top-rated products cluster around practical accessories and footwear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735733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TOP FIVE BY AVERAGE RATING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60773"/>
          <a:ext cx="9143771" cy="914400"/>
        </p:xfrm>
        <a:graphic>
          <a:graphicData uri="http://schemas.openxmlformats.org/drawingml/2006/table">
            <a:tbl>
              <a:tblPr/>
              <a:tblGrid>
                <a:gridCol w="3154601"/>
                <a:gridCol w="2103067"/>
              </a:tblGrid>
              <a:tr h="3474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PRODUCT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AVERAGE RATING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Gloves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3.86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Sandals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3.84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Boots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3.82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Hat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3.80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Skirt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3.78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24442" y="1735733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BEST-SELLING LEADERS BY CATEGORY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2" y="2060773"/>
          <a:ext cx="9143771" cy="914400"/>
        </p:xfrm>
        <a:graphic>
          <a:graphicData uri="http://schemas.openxmlformats.org/drawingml/2006/table">
            <a:tbl>
              <a:tblPr/>
              <a:tblGrid>
                <a:gridCol w="2891718"/>
                <a:gridCol w="2365951"/>
              </a:tblGrid>
              <a:tr h="3474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CATEGORY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LEADER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Accessories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Jewelry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Clothing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Blouse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Footwear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Sandals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Outerwear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Jacket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09585" y="5081091"/>
            <a:ext cx="11582110" cy="420985"/>
          </a:xfrm>
          <a:prstGeom prst="rect">
            <a:avLst/>
          </a:prstGeom>
          <a:noFill/>
          <a:ln/>
        </p:spPr>
        <p:txBody>
          <a:bodyPr wrap="none" lIns="0" tIns="101598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high-rated products as campaign anchors, then cross-sell into category leaders.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Young customers lead revenue, but the four age groups are close enough to segment by message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23368"/>
            <a:ext cx="6659694" cy="3453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638502"/>
            <a:ext cx="6659694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revenue spans a tight band from $55,763 (Senior) to $62,143 (Young).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26368" y="2809379"/>
            <a:ext cx="1864274" cy="1119187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6" name="Text 3"/>
          <p:cNvSpPr/>
          <p:nvPr/>
        </p:nvSpPr>
        <p:spPr>
          <a:xfrm>
            <a:off x="7904163" y="3012579"/>
            <a:ext cx="16864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04163" y="3420566"/>
            <a:ext cx="15086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$62,143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717638" y="2809379"/>
            <a:ext cx="1864373" cy="1119187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9" name="Text 6"/>
          <p:cNvSpPr/>
          <p:nvPr/>
        </p:nvSpPr>
        <p:spPr>
          <a:xfrm>
            <a:off x="9895434" y="3012579"/>
            <a:ext cx="16865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Mid-age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895434" y="3420566"/>
            <a:ext cx="15087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$59,197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26368" y="4055566"/>
            <a:ext cx="1864274" cy="1119187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2" name="Text 9"/>
          <p:cNvSpPr/>
          <p:nvPr/>
        </p:nvSpPr>
        <p:spPr>
          <a:xfrm>
            <a:off x="7904163" y="4258766"/>
            <a:ext cx="16864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Adult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904163" y="4666754"/>
            <a:ext cx="150868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$55,978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9717638" y="4055566"/>
            <a:ext cx="1864373" cy="1119187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5" name="Text 12"/>
          <p:cNvSpPr/>
          <p:nvPr/>
        </p:nvSpPr>
        <p:spPr>
          <a:xfrm>
            <a:off x="9895434" y="4258766"/>
            <a:ext cx="16865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Senior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895434" y="4666754"/>
            <a:ext cx="15087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$55,763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1399056" y="6451898"/>
            <a:ext cx="7926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Express shipping correlates with a slightly higher basket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23368"/>
            <a:ext cx="6659694" cy="3453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638502"/>
            <a:ext cx="6659694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Express basket averages $60.48 vs. $58.46 for Standard fulfillment (+3.5% lift).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26368" y="1990824"/>
            <a:ext cx="1775475" cy="4002484"/>
          </a:xfrm>
          <a:prstGeom prst="roundRect">
            <a:avLst>
              <a:gd name="adj" fmla="val 1824"/>
            </a:avLst>
          </a:prstGeom>
          <a:solidFill>
            <a:srgbClr val="E7EAF0"/>
          </a:solidFill>
          <a:ln/>
        </p:spPr>
      </p:sp>
      <p:sp>
        <p:nvSpPr>
          <p:cNvPr id="6" name="Text 3"/>
          <p:cNvSpPr/>
          <p:nvPr/>
        </p:nvSpPr>
        <p:spPr>
          <a:xfrm>
            <a:off x="7980361" y="2219424"/>
            <a:ext cx="15214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Basket premium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80361" y="2627412"/>
            <a:ext cx="126748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0" dirty="0">
                <a:solidFill>
                  <a:srgbClr val="0E7C8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+$2.02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80361" y="3981152"/>
            <a:ext cx="1267488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Higher order value on Express orders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806635" y="1990824"/>
            <a:ext cx="1775475" cy="4002484"/>
          </a:xfrm>
          <a:prstGeom prst="roundRect">
            <a:avLst>
              <a:gd name="adj" fmla="val 1824"/>
            </a:avLst>
          </a:prstGeom>
          <a:solidFill>
            <a:srgbClr val="E7EAF0"/>
          </a:solidFill>
          <a:ln/>
        </p:spPr>
      </p:sp>
      <p:sp>
        <p:nvSpPr>
          <p:cNvPr id="10" name="Text 7"/>
          <p:cNvSpPr/>
          <p:nvPr/>
        </p:nvSpPr>
        <p:spPr>
          <a:xfrm>
            <a:off x="10060629" y="2219424"/>
            <a:ext cx="15214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Strategic read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60629" y="2560737"/>
            <a:ext cx="1267488" cy="320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Speed serves as a modest premium indicator, but margin net of fulfillment expense must be verified before subsidizing expedited delivery tiers.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428523" y="6451898"/>
            <a:ext cx="76317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2026-09-26T05:46:29Z</dcterms:created>
  <dcterms:modified xsi:type="dcterms:W3CDTF">2026-09-26T05:46:29Z</dcterms:modified>
</cp:coreProperties>
</file>